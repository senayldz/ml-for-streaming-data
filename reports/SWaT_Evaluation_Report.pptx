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66960" cy="5029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6EDF3"/>
                </a:solidFill>
              </a:rPr>
              <a:t>🛡️  SWaT Network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388BFD"/>
                </a:solidFill>
              </a:rPr>
              <a:t>Streaming ML Pipeline - Evaluation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LightGBM . Real-Time Inference . SWaT 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520440"/>
            <a:ext cx="3657600" cy="254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6576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</a:rPr>
              <a:t>Precision  0.994   |   Recall  0.999   |   F1  0.997   |   AUC  0.999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949E"/>
                </a:solidFill>
              </a:rPr>
              <a:t>Confidential -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BFD"/>
                </a:solidFill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</a:rPr>
              <a:t>Secure Water Treatment (SWaT) Anomaly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1155680" cy="100584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🎯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195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DF3"/>
                </a:solidFill>
              </a:rPr>
              <a:t>Detect cyber-physical attacks on industrial control systems in real-time with sub-5ms latency and &gt;99% recall, ensuring no attack event is missed.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743200"/>
            <a:ext cx="11155680" cy="100584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163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📦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067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DF3"/>
                </a:solidFill>
              </a:rPr>
              <a:t>SWaT benchmark - 496,800 sensor records (51 features) from a real water treatment plant. Attack rate ~ 3.8 %. Merged CSV: normal + 36 attack scenarios.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931920"/>
            <a:ext cx="11155680" cy="100584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05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⚙️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7939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DF3"/>
                </a:solidFill>
              </a:rPr>
              <a:t>Incremental StandardScaler -&gt; LightGBM binary classifier (scale_pos_weight) -&gt; Streaming inference engine with ThroughputTracker -&gt; Live Streamlit dashboard.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120640"/>
            <a:ext cx="11155680" cy="100584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1937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🏆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68112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DF3"/>
                </a:solidFill>
              </a:rPr>
              <a:t>Production-ready pipeline achieving 99.9% recall at 57,000 RPS with 4.23 ms mean batch latency on CPU-only hardware.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BFD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6EDF3"/>
                </a:solidFill>
              </a:rPr>
              <a:t>End-to-End Streaming Inference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192024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920240" cy="73152"/>
          </a:xfrm>
          <a:prstGeom prst="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61848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88BFD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Data 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2608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949E"/>
                </a:solidFill>
              </a:rPr>
              <a:t>SWaT CSV
496K rows
51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2576" y="3063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88BFD"/>
                </a:solidFill>
              </a:rP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508760"/>
            <a:ext cx="192024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508760"/>
            <a:ext cx="192024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161848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FB95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0632" y="21488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292608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949E"/>
                </a:solidFill>
              </a:rPr>
              <a:t>Incremental
StandardScaler
partial_fit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063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88BFD"/>
                </a:solidFill>
              </a:rPr>
              <a:t>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38344" y="1508760"/>
            <a:ext cx="192024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38344" y="1508760"/>
            <a:ext cx="1920240" cy="73152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61848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29922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21488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LightGBM
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292608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949E"/>
                </a:solidFill>
              </a:rPr>
              <a:t>300 trees
scale_pos_weight
ROC-AUC 0.999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063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88BFD"/>
                </a:solidFill>
              </a:rPr>
              <a:t>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97496" y="1508760"/>
            <a:ext cx="192024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7496" y="1508760"/>
            <a:ext cx="1920240" cy="73152"/>
          </a:xfrm>
          <a:prstGeom prst="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161848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88BFD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8936" y="21488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Stream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292608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949E"/>
                </a:solidFill>
              </a:rPr>
              <a:t>Batch generator
Throttled Hz
ThroughputTracker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3063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88BFD"/>
                </a:solidFill>
              </a:rPr>
              <a:t>-&gt;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56648" y="1508760"/>
            <a:ext cx="192024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56648" y="1508760"/>
            <a:ext cx="192024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6648" y="161848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FB950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088" y="21488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Live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48088" y="292608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949E"/>
                </a:solidFill>
              </a:rPr>
              <a:t>Streamlit UI
Plotly charts
800ms refresh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</a:rPr>
              <a:t>CLASSIFICATION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6EDF3"/>
                </a:solidFill>
              </a:rPr>
              <a:t>LightGBM Detector - Held-Out Test Set (20%)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237744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B949E"/>
                </a:solidFill>
              </a:rPr>
              <a:t>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88BFD"/>
                </a:solidFill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of detections are 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237744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508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B949E"/>
                </a:solidFill>
              </a:rPr>
              <a:t>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FB950"/>
                </a:solidFill>
              </a:rPr>
              <a:t>99.9%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of attacks caught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1417320"/>
            <a:ext cx="237744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508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B949E"/>
                </a:solidFill>
              </a:rPr>
              <a:t>F1-SCORE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29922"/>
                </a:solidFill>
              </a:rPr>
              <a:t>99.7%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harmonic mean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1417320"/>
            <a:ext cx="2377440" cy="1417320"/>
          </a:xfrm>
          <a:prstGeom prst="rect">
            <a:avLst/>
          </a:prstGeom>
          <a:solidFill>
            <a:srgbClr val="161B22"/>
          </a:solidFill>
          <a:ln w="9525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508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B949E"/>
                </a:solidFill>
              </a:rPr>
              <a:t>ROC-AUC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88BFD"/>
                </a:solidFill>
              </a:rPr>
              <a:t>99.9%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area under ROC curve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40"/>
            <a:ext cx="2011680" cy="502920"/>
          </a:xfrm>
          <a:prstGeom prst="rect">
            <a:avLst/>
          </a:prstGeom>
          <a:solidFill>
            <a:srgbClr val="1A222E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88BFD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520440"/>
            <a:ext cx="2286000" cy="502920"/>
          </a:xfrm>
          <a:prstGeom prst="rect">
            <a:avLst/>
          </a:prstGeom>
          <a:solidFill>
            <a:srgbClr val="1A222E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06040" y="36118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88BFD"/>
                </a:solidFill>
              </a:rPr>
              <a:t>Pred: Normal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3520440"/>
            <a:ext cx="2286000" cy="502920"/>
          </a:xfrm>
          <a:prstGeom prst="rect">
            <a:avLst/>
          </a:prstGeom>
          <a:solidFill>
            <a:srgbClr val="1A222E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36118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88BFD"/>
                </a:solidFill>
              </a:rPr>
              <a:t>Pred: Attack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023360"/>
            <a:ext cx="2011680" cy="502920"/>
          </a:xfrm>
          <a:prstGeom prst="rect">
            <a:avLst/>
          </a:prstGeom>
          <a:solidFill>
            <a:srgbClr val="1A222E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14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88BFD"/>
                </a:solidFill>
              </a:rPr>
              <a:t>True: Normal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4023360"/>
            <a:ext cx="2286000" cy="50292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06040" y="4114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DF3"/>
                </a:solidFill>
              </a:rPr>
              <a:t>TN  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00600" y="4023360"/>
            <a:ext cx="2286000" cy="50292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2040" y="4114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DF3"/>
                </a:solidFill>
              </a:rPr>
              <a:t>FP  Warning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26280"/>
            <a:ext cx="2011680" cy="502920"/>
          </a:xfrm>
          <a:prstGeom prst="rect">
            <a:avLst/>
          </a:prstGeom>
          <a:solidFill>
            <a:srgbClr val="1A222E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177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88BFD"/>
                </a:solidFill>
              </a:rPr>
              <a:t>True: Attack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4526280"/>
            <a:ext cx="2286000" cy="50292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06040" y="46177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DF3"/>
                </a:solidFill>
              </a:rPr>
              <a:t>FN  Miss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4526280"/>
            <a:ext cx="2286000" cy="502920"/>
          </a:xfrm>
          <a:prstGeom prst="rect">
            <a:avLst/>
          </a:prstGeom>
          <a:solidFill>
            <a:srgbClr val="161B22"/>
          </a:solidFill>
          <a:ln w="6350">
            <a:solidFill>
              <a:srgbClr val="388B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46177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EDF3"/>
                </a:solidFill>
              </a:rPr>
              <a:t>TP  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3520440"/>
            <a:ext cx="4846320" cy="1920240"/>
          </a:xfrm>
          <a:prstGeom prst="rect">
            <a:avLst/>
          </a:prstGeom>
          <a:solidFill>
            <a:srgbClr val="0E2A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516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</a:rPr>
              <a:t>Key Result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402336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6EDF3"/>
                </a:solidFill>
              </a:rPr>
              <a:t>Near-perfect recall (99.9%) ensures virtually no attack event goes undetected. Precision of 99.4% minimizes operator alert fatigue.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