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914400"/>
            <a:ext cx="9966960" cy="5029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🛡️  SWaT Network Anomaly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88BFD"/>
                </a:solidFill>
              </a:rPr>
              <a:t>Streaming ML Pipeline - Evaluation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Isolation Forest . Real-Time Inference . SWaT Dataset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3657600" cy="25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657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Precision  0.958   |   Recall  0.690   |   F1  0.802   |   AUC  0.943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B949E"/>
                </a:solidFill>
              </a:rPr>
              <a:t>Confidential - Internal Use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8BFD"/>
                </a:solidFill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</a:rPr>
              <a:t>Secure Water Treatment (SWaT) Anomaly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5568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🎯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01952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Detect cyber-physical attacks on industrial control systems in real-time with low latency and high precision using a realistic temporal split.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43200"/>
            <a:ext cx="1115568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163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📦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90672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SWaT benchmark - 1.44 million sensor records (51 features) from a real water treatment plant. 80/20 chronological train/test split.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931920"/>
            <a:ext cx="1115568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05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⚙️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79392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Incremental StandardScaler -&gt; Unsupervised Isolation Forest (trained only on normal data) -&gt; Streaming engine with ThroughputTracker -&gt; Live Streamlit dashboard.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120640"/>
            <a:ext cx="1115568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1937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🏆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468112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Production-ready unsupervised pipeline achieving 95.8% precision, 69.0% recall, and 0.71% false alarm rate under realistic chronological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8BFD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</a:rPr>
              <a:t>End-to-End Streaming Inference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1920240" cy="3474720"/>
          </a:xfrm>
          <a:prstGeom prst="rect">
            <a:avLst/>
          </a:prstGeom>
          <a:solidFill>
            <a:srgbClr val="161B22"/>
          </a:solidFill>
          <a:ln w="1524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1920240" cy="7315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61848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88BFD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488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EDF3"/>
                </a:solidFill>
              </a:rPr>
              <a:t>Data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2608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949E"/>
                </a:solidFill>
              </a:rPr>
              <a:t>SWaT CSV
1.44M rows
51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2576" y="3063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88BFD"/>
                </a:solidFill>
              </a:rPr>
              <a:t>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9192" y="1508760"/>
            <a:ext cx="1920240" cy="3474720"/>
          </a:xfrm>
          <a:prstGeom prst="rect">
            <a:avLst/>
          </a:prstGeom>
          <a:solidFill>
            <a:srgbClr val="161B22"/>
          </a:solidFill>
          <a:ln w="1524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79192" y="1508760"/>
            <a:ext cx="1920240" cy="731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9192" y="161848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FB950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0632" y="21488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EDF3"/>
                </a:solidFill>
              </a:rPr>
              <a:t>Preprocessing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632" y="292608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949E"/>
                </a:solidFill>
              </a:rPr>
              <a:t>Incremental
StandardScaler
partial_fit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3063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88BFD"/>
                </a:solidFill>
              </a:rPr>
              <a:t>-&gt;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8344" y="1508760"/>
            <a:ext cx="1920240" cy="3474720"/>
          </a:xfrm>
          <a:prstGeom prst="rect">
            <a:avLst/>
          </a:prstGeom>
          <a:solidFill>
            <a:srgbClr val="161B22"/>
          </a:solidFill>
          <a:ln w="1524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38344" y="1508760"/>
            <a:ext cx="1920240" cy="73152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8344" y="161848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29922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9784" y="21488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EDF3"/>
                </a:solidFill>
              </a:rPr>
              <a:t>Isolation 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292608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949E"/>
                </a:solidFill>
              </a:rPr>
              <a:t>100 estimators
contamination=0.04
Unsupervised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063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88BFD"/>
                </a:solidFill>
              </a:rPr>
              <a:t>-&gt;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97496" y="1508760"/>
            <a:ext cx="1920240" cy="3474720"/>
          </a:xfrm>
          <a:prstGeom prst="rect">
            <a:avLst/>
          </a:prstGeom>
          <a:solidFill>
            <a:srgbClr val="161B22"/>
          </a:solidFill>
          <a:ln w="1524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97496" y="1508760"/>
            <a:ext cx="1920240" cy="7315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97496" y="161848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88BFD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936" y="21488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EDF3"/>
                </a:solidFill>
              </a:rPr>
              <a:t>Stream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292608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949E"/>
                </a:solidFill>
              </a:rPr>
              <a:t>Batch generator
Throttled Hz
ThroughputTracker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3063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88BFD"/>
                </a:solidFill>
              </a:rPr>
              <a:t>-&gt;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56648" y="1508760"/>
            <a:ext cx="1920240" cy="3474720"/>
          </a:xfrm>
          <a:prstGeom prst="rect">
            <a:avLst/>
          </a:prstGeom>
          <a:solidFill>
            <a:srgbClr val="161B22"/>
          </a:solidFill>
          <a:ln w="1524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56648" y="1508760"/>
            <a:ext cx="1920240" cy="731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56648" y="161848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FB950"/>
                </a:solidFill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8088" y="21488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EDF3"/>
                </a:solidFill>
              </a:rPr>
              <a:t>Live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8088" y="292608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949E"/>
                </a:solidFill>
              </a:rPr>
              <a:t>Streamlit UI
Plotly charts
800ms refresh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CLASSIFICATION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</a:rPr>
              <a:t>Isolation Forest Detector - Held-Out Test Set (20%)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377440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88BFD"/>
                </a:solidFill>
              </a:rPr>
              <a:t>95.8%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</a:rPr>
              <a:t>of detections are true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417320"/>
            <a:ext cx="2377440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508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7373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FB950"/>
                </a:solidFill>
              </a:rPr>
              <a:t>69.0%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4231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</a:rPr>
              <a:t>of attacks caught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1417320"/>
            <a:ext cx="2377440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1508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F1-SCORE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17373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29922"/>
                </a:solidFill>
              </a:rPr>
              <a:t>80.2%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4231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</a:rPr>
              <a:t>harmonic mean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417320"/>
            <a:ext cx="2377440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1508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ROC-AUC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17373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88BFD"/>
                </a:solidFill>
              </a:rPr>
              <a:t>94.3%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4231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</a:rPr>
              <a:t>area under ROC curve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520440"/>
            <a:ext cx="2011680" cy="502920"/>
          </a:xfrm>
          <a:prstGeom prst="rect">
            <a:avLst/>
          </a:prstGeom>
          <a:solidFill>
            <a:srgbClr val="1A222E"/>
          </a:solidFill>
          <a:ln w="63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611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88BFD"/>
                </a:solidFill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3520440"/>
            <a:ext cx="2286000" cy="502920"/>
          </a:xfrm>
          <a:prstGeom prst="rect">
            <a:avLst/>
          </a:prstGeom>
          <a:solidFill>
            <a:srgbClr val="1A222E"/>
          </a:solidFill>
          <a:ln w="63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06040" y="36118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88BFD"/>
                </a:solidFill>
              </a:rPr>
              <a:t>Pred: Normal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3520440"/>
            <a:ext cx="2286000" cy="502920"/>
          </a:xfrm>
          <a:prstGeom prst="rect">
            <a:avLst/>
          </a:prstGeom>
          <a:solidFill>
            <a:srgbClr val="1A222E"/>
          </a:solidFill>
          <a:ln w="63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36118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88BFD"/>
                </a:solidFill>
              </a:rPr>
              <a:t>Pred: Attack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023360"/>
            <a:ext cx="2011680" cy="502920"/>
          </a:xfrm>
          <a:prstGeom prst="rect">
            <a:avLst/>
          </a:prstGeom>
          <a:solidFill>
            <a:srgbClr val="1A222E"/>
          </a:solidFill>
          <a:ln w="63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114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88BFD"/>
                </a:solidFill>
              </a:rPr>
              <a:t>True: Normal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600" y="4023360"/>
            <a:ext cx="228600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06040" y="4114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EDF3"/>
                </a:solidFill>
              </a:rPr>
              <a:t>TN: 232,053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00600" y="4023360"/>
            <a:ext cx="228600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4114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EDF3"/>
                </a:solidFill>
              </a:rPr>
              <a:t>FP: 1,670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526280"/>
            <a:ext cx="2011680" cy="502920"/>
          </a:xfrm>
          <a:prstGeom prst="rect">
            <a:avLst/>
          </a:prstGeom>
          <a:solidFill>
            <a:srgbClr val="1A222E"/>
          </a:solidFill>
          <a:ln w="63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617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88BFD"/>
                </a:solidFill>
              </a:rPr>
              <a:t>True: Attack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14600" y="4526280"/>
            <a:ext cx="228600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06040" y="46177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EDF3"/>
                </a:solidFill>
              </a:rPr>
              <a:t>FN: 16,937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00600" y="4526280"/>
            <a:ext cx="228600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92040" y="46177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EDF3"/>
                </a:solidFill>
              </a:rPr>
              <a:t>TP: 37,684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3520440"/>
            <a:ext cx="4846320" cy="1920240"/>
          </a:xfrm>
          <a:prstGeom prst="rect">
            <a:avLst/>
          </a:prstGeom>
          <a:solidFill>
            <a:srgbClr val="0E2A17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516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Key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40233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</a:rPr>
              <a:t>Unsupervised model learns only normal states, achieving a 95.8% precision with an extremely low false alarm rate of 0.71%. This avoids operator fatigue while catching 69.0% of siber attack events in chronological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